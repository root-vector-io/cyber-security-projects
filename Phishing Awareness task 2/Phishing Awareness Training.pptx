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Sites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B11-4EC5-989C-71EDFBE33FBE}"/>
              </c:ext>
            </c:extLst>
          </c:dPt>
          <c:dPt>
            <c:idx val="1"/>
            <c:invertIfNegative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B11-4EC5-989C-71EDFBE33FBE}"/>
              </c:ext>
            </c:extLst>
          </c:dPt>
          <c:cat>
            <c:strRef>
              <c:f>Sheet1!$A$2:$A$3</c:f>
              <c:strCache>
                <c:ptCount val="2"/>
                <c:pt idx="0">
                  <c:v>Q1 2026</c:v>
                </c:pt>
                <c:pt idx="1">
                  <c:v>Q2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971181</c:v>
                </c:pt>
                <c:pt idx="1">
                  <c:v>1069681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71-478E-87D4-A855A3DB8C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2068027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Rate (%)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170B-4736-A729-BC7359DB4799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170B-4736-A729-BC7359DB4799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Quick-commerce</c:v>
                </c:pt>
                <c:pt idx="1">
                  <c:v>Traditional e-commerce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0.4</c:v>
                </c:pt>
                <c:pt idx="1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70B-4736-A729-BC7359DB4799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880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803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8941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122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1521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617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6485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41450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302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2113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24965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717447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9032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81383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41554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3600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7517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BCAD085-E8A6-8845-BD4E-CB4CCA059FC4}" type="datetimeFigureOut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10/26/2026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FF6DA9-008F-8B48-92A6-B652298478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42941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58368" y="658368"/>
            <a:ext cx="713232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PHISHING</a:t>
            </a:r>
            <a:r>
              <a:rPr kumimoji="0" lang="en-IN" sz="3500" b="1" i="0" u="none" strike="noStrike" kern="1200" cap="none" spc="0" normalizeH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3500" b="1" i="0" u="none" strike="noStrike" kern="1200" cap="none" spc="0" normalizeH="0" baseline="0" noProof="0" dirty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AWARENESS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331720"/>
            <a:ext cx="676656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Simple habits that stop real</a:t>
            </a:r>
            <a:r>
              <a:rPr kumimoji="0" lang="en-IN" sz="1800" b="0" i="0" u="none" strike="noStrike" kern="1200" cap="none" spc="0" normalizeH="0" noProof="0" dirty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world attacks.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182112"/>
            <a:ext cx="667512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500" b="1" i="0" u="none" strike="noStrike" kern="1200" cap="none" spc="0" normalizeH="0" baseline="0" noProof="0" dirty="0">
                <a:ln>
                  <a:noFill/>
                </a:ln>
                <a:solidFill>
                  <a:srgbClr val="2AB8D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Think before you click.
Verify before you trust.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6172200"/>
            <a:ext cx="4114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9DAB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CYBERSECURITY AWARENESS • 2026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 rotWithShape="1">
          <a:blip r:embed="rId2"/>
          <a:srcRect l="6016" t="21278" r="-583" b="26050"/>
          <a:stretch/>
        </p:blipFill>
        <p:spPr>
          <a:xfrm>
            <a:off x="7717536" y="18288"/>
            <a:ext cx="4456176" cy="3493008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3175" cap="sq">
            <a:solidFill>
              <a:schemeClr val="tx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TextBox 7"/>
          <p:cNvSpPr txBox="1"/>
          <p:nvPr/>
        </p:nvSpPr>
        <p:spPr>
          <a:xfrm>
            <a:off x="704088" y="5458968"/>
            <a:ext cx="5486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Presented by • </a:t>
            </a:r>
            <a:r>
              <a:rPr lang="en-US" sz="1000" b="1" dirty="0">
                <a:solidFill>
                  <a:srgbClr val="96A8C2"/>
                </a:solidFill>
                <a:latin typeface="Aptos"/>
              </a:rPr>
              <a:t>Bhavik Bhandari</a:t>
            </a:r>
            <a:endParaRPr kumimoji="0" sz="1000" b="1" i="0" u="none" strike="noStrike" kern="1200" cap="none" spc="0" normalizeH="0" baseline="0" noProof="0" dirty="0">
              <a:ln>
                <a:noFill/>
              </a:ln>
              <a:solidFill>
                <a:srgbClr val="96A8C2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23822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81594" y="0"/>
            <a:ext cx="4007358" cy="6858000"/>
          </a:xfrm>
          <a:prstGeom prst="rect">
            <a:avLst/>
          </a:prstGeom>
          <a:solidFill>
            <a:srgbClr val="1221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659926"/>
            <a:ext cx="6675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100" b="1" i="0" u="none" strike="noStrike" kern="1200" cap="none" spc="0" normalizeH="0" baseline="0" noProof="0">
                <a:ln>
                  <a:noFill/>
                </a:ln>
                <a:solidFill>
                  <a:srgbClr val="2ABED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What is a phishing attack?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3013" y="1434578"/>
            <a:ext cx="681228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phishing attack is a fake message, call, website or file that pretends to be trustworthy so an attacker can trick you into taking an unsafe action.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880110" y="3272431"/>
            <a:ext cx="6963156" cy="1143000"/>
            <a:chOff x="781812" y="4091940"/>
            <a:chExt cx="6963156" cy="1143000"/>
          </a:xfrm>
        </p:grpSpPr>
        <p:sp>
          <p:nvSpPr>
            <p:cNvPr id="6" name="Rounded Rectangle 5"/>
            <p:cNvSpPr/>
            <p:nvPr/>
          </p:nvSpPr>
          <p:spPr>
            <a:xfrm>
              <a:off x="781812" y="4091940"/>
              <a:ext cx="2176272" cy="1143000"/>
            </a:xfrm>
            <a:prstGeom prst="roundRect">
              <a:avLst/>
            </a:prstGeom>
            <a:solidFill>
              <a:srgbClr val="182B4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grpSp>
          <p:nvGrpSpPr>
            <p:cNvPr id="25" name="Group 24"/>
            <p:cNvGrpSpPr/>
            <p:nvPr/>
          </p:nvGrpSpPr>
          <p:grpSpPr>
            <a:xfrm>
              <a:off x="923544" y="4091940"/>
              <a:ext cx="6821424" cy="1143000"/>
              <a:chOff x="859536" y="4069080"/>
              <a:chExt cx="6821424" cy="1143000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859536" y="4270248"/>
                <a:ext cx="393192" cy="393192"/>
              </a:xfrm>
              <a:prstGeom prst="ellipse">
                <a:avLst/>
              </a:prstGeom>
              <a:solidFill>
                <a:srgbClr val="2B6FE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859536" y="4270248"/>
                <a:ext cx="393192" cy="39319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F8FAFD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1207008" y="4343400"/>
                <a:ext cx="1280160" cy="22860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AFD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TRUST</a:t>
                </a:r>
              </a:p>
            </p:txBody>
          </p:sp>
          <p:sp>
            <p:nvSpPr>
              <p:cNvPr id="10" name="TextBox 9"/>
              <p:cNvSpPr txBox="1"/>
              <p:nvPr/>
            </p:nvSpPr>
            <p:spPr>
              <a:xfrm>
                <a:off x="1051560" y="4700016"/>
                <a:ext cx="1783080" cy="4389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CE5F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Fake bank, boss, delivery, IT or colleague</a:t>
                </a:r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3090672" y="4069080"/>
                <a:ext cx="2176272" cy="1143000"/>
              </a:xfrm>
              <a:prstGeom prst="roundRect">
                <a:avLst/>
              </a:prstGeom>
              <a:solidFill>
                <a:srgbClr val="182B4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255264" y="4270248"/>
                <a:ext cx="393192" cy="393192"/>
              </a:xfrm>
              <a:prstGeom prst="ellipse">
                <a:avLst/>
              </a:prstGeom>
              <a:solidFill>
                <a:srgbClr val="F49937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3255264" y="4270248"/>
                <a:ext cx="393192" cy="39319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F8FAFD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3621024" y="4343400"/>
                <a:ext cx="1280160" cy="22860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1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8FAFD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ACTION</a:t>
                </a:r>
              </a:p>
            </p:txBody>
          </p:sp>
          <p:sp>
            <p:nvSpPr>
              <p:cNvPr id="15" name="TextBox 14"/>
              <p:cNvSpPr txBox="1"/>
              <p:nvPr/>
            </p:nvSpPr>
            <p:spPr>
              <a:xfrm>
                <a:off x="3474720" y="4709160"/>
                <a:ext cx="2075688" cy="2308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CE5F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Click • login • open • pay • share</a:t>
                </a:r>
              </a:p>
            </p:txBody>
          </p:sp>
          <p:sp>
            <p:nvSpPr>
              <p:cNvPr id="16" name="Rounded Rectangle 15"/>
              <p:cNvSpPr/>
              <p:nvPr/>
            </p:nvSpPr>
            <p:spPr>
              <a:xfrm>
                <a:off x="5486400" y="4069080"/>
                <a:ext cx="2176272" cy="1143000"/>
              </a:xfrm>
              <a:prstGeom prst="roundRect">
                <a:avLst/>
              </a:prstGeom>
              <a:solidFill>
                <a:srgbClr val="182B46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5650992" y="4270248"/>
                <a:ext cx="393192" cy="393192"/>
              </a:xfrm>
              <a:prstGeom prst="ellipse">
                <a:avLst/>
              </a:prstGeom>
              <a:solidFill>
                <a:srgbClr val="E24545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7"/>
              <p:cNvSpPr txBox="1"/>
              <p:nvPr/>
            </p:nvSpPr>
            <p:spPr>
              <a:xfrm>
                <a:off x="5650992" y="4270248"/>
                <a:ext cx="393192" cy="393192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000" b="1" i="0" u="none" strike="noStrike" kern="1200" cap="none" spc="0" normalizeH="0" baseline="0" noProof="0">
                    <a:ln>
                      <a:noFill/>
                    </a:ln>
                    <a:solidFill>
                      <a:srgbClr val="F8FAFD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19" name="TextBox 18"/>
              <p:cNvSpPr txBox="1"/>
              <p:nvPr/>
            </p:nvSpPr>
            <p:spPr>
              <a:xfrm>
                <a:off x="6007608" y="4343400"/>
                <a:ext cx="1280160" cy="228600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1100" b="1" i="0" u="none" strike="noStrike" kern="1200" cap="none" spc="0" normalizeH="0" baseline="0" noProof="0">
                    <a:ln>
                      <a:noFill/>
                    </a:ln>
                    <a:solidFill>
                      <a:srgbClr val="F8FAFD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IMPACT</a:t>
                </a:r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5897880" y="4690872"/>
                <a:ext cx="1783080" cy="4389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9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CE5F0"/>
                    </a:solidFill>
                    <a:effectLst/>
                    <a:uLnTx/>
                    <a:uFillTx/>
                    <a:latin typeface="Aptos"/>
                    <a:ea typeface="+mn-ea"/>
                    <a:cs typeface="+mn-cs"/>
                  </a:rPr>
                  <a:t>Account • data • money loss</a:t>
                </a:r>
              </a:p>
            </p:txBody>
          </p:sp>
        </p:grpSp>
      </p:grpSp>
      <p:sp>
        <p:nvSpPr>
          <p:cNvPr id="21" name="Rounded Rectangle 20"/>
          <p:cNvSpPr/>
          <p:nvPr/>
        </p:nvSpPr>
        <p:spPr>
          <a:xfrm>
            <a:off x="8956548" y="643531"/>
            <a:ext cx="2514600" cy="5257800"/>
          </a:xfrm>
          <a:prstGeom prst="roundRect">
            <a:avLst/>
          </a:prstGeom>
          <a:solidFill>
            <a:srgbClr val="182B46"/>
          </a:solidFill>
          <a:ln>
            <a:solidFill>
              <a:srgbClr val="002060"/>
            </a:solidFill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35440" y="114300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2ABED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GOLDEN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1828800"/>
            <a:ext cx="1920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1" i="0" u="none" strike="noStrike" kern="1200" cap="none" spc="0" normalizeH="0" baseline="0" noProof="0" dirty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STOP
↓
CHECK
↓
VERIFY
↓
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5257800"/>
            <a:ext cx="2148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Don’t let urgency make the decision for you.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473952"/>
            <a:ext cx="45720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 dirty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kumimoji="0" lang="en-IN" sz="800" b="1" i="0" u="none" strike="noStrike" kern="1200" cap="none" spc="0" normalizeH="0" baseline="0" noProof="0" dirty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  <a:endParaRPr kumimoji="0" sz="800" b="1" i="0" u="none" strike="noStrike" kern="1200" cap="none" spc="0" normalizeH="0" baseline="0" noProof="0" dirty="0">
              <a:ln>
                <a:noFill/>
              </a:ln>
              <a:solidFill>
                <a:srgbClr val="96A8C2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1141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How many types of phishing attacks?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Six common forms — the channel changes, but the trick is the same.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2880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04672" y="1993392"/>
            <a:ext cx="1234440" cy="310896"/>
          </a:xfrm>
          <a:prstGeom prst="roundRect">
            <a:avLst/>
          </a:prstGeom>
          <a:solidFill>
            <a:srgbClr val="2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201168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40487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Fake invoice / password reset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70662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Spear phishing: targeted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2880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08576" y="1993392"/>
            <a:ext cx="1234440" cy="310896"/>
          </a:xfrm>
          <a:prstGeom prst="roundRect">
            <a:avLst/>
          </a:prstGeom>
          <a:solidFill>
            <a:srgbClr val="E2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08576" y="201168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SPEAR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240487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Personalised attack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70662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Uses role/company details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12480" y="1993392"/>
            <a:ext cx="1234440" cy="310896"/>
          </a:xfrm>
          <a:prstGeom prst="roundRect">
            <a:avLst/>
          </a:prstGeom>
          <a:solidFill>
            <a:srgbClr val="F49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SMISHING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40487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SMS / chat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0662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Delivery, bank or account alert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33756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04672" y="3502152"/>
            <a:ext cx="1234440" cy="310896"/>
          </a:xfrm>
          <a:prstGeom prst="roundRect">
            <a:avLst/>
          </a:prstGeom>
          <a:solidFill>
            <a:srgbClr val="2FA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2" y="352044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VISHING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391363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Phone 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215383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Fake bank / IT / support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333756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608576" y="3502152"/>
            <a:ext cx="1234440" cy="310896"/>
          </a:xfrm>
          <a:prstGeom prst="roundRect">
            <a:avLst/>
          </a:prstGeom>
          <a:solidFill>
            <a:srgbClr val="856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08576" y="352044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WHALING / BEC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08576" y="391363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Executive / payment fraud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215383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Impersonates senior staff or partners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33756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412480" y="3502152"/>
            <a:ext cx="1234440" cy="310896"/>
          </a:xfrm>
          <a:prstGeom prst="roundRect">
            <a:avLst/>
          </a:prstGeom>
          <a:solidFill>
            <a:srgbClr val="2AB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12480" y="3520440"/>
            <a:ext cx="12344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QR PHISHING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913632"/>
            <a:ext cx="2926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Malicious QR code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215383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Fake login or payment page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8" y="5048696"/>
            <a:ext cx="10927080" cy="749808"/>
          </a:xfrm>
          <a:prstGeom prst="roundRect">
            <a:avLst/>
          </a:prstGeom>
          <a:solidFill>
            <a:srgbClr val="1D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58952" y="5158424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2ABED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2026 REAL EXAMPLE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45920" y="5295584"/>
            <a:ext cx="8961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CERT-In reported compromised WhatsApp accounts sending malicious .VBS files disguised as invoices, bank statements and payment records.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" y="6473952"/>
            <a:ext cx="10058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Source: CERT-In, June 25, 2026</a:t>
            </a:r>
          </a:p>
        </p:txBody>
      </p:sp>
    </p:spTree>
    <p:extLst>
      <p:ext uri="{BB962C8B-B14F-4D97-AF65-F5344CB8AC3E}">
        <p14:creationId xmlns:p14="http://schemas.microsoft.com/office/powerpoint/2010/main" val="4097385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Phishing in 2026 — India &amp; worldwide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Current figures are awareness signals; different sources measure different things.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5486400" cy="425196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ABED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WORLDWIDE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915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Unique phishing sites detected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0144846"/>
              </p:ext>
            </p:extLst>
          </p:nvPr>
        </p:nvGraphicFramePr>
        <p:xfrm>
          <a:off x="822960" y="2834640"/>
          <a:ext cx="498348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68680" y="5193792"/>
            <a:ext cx="4800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Q2 2026: 1,069,681 unique phishing sites
APWG also reported phishing attacks up 10.1% in Q2.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257800" cy="425196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0" y="2011680"/>
            <a:ext cx="3108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ABED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INDIA — QUICK-COMMERCE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59152"/>
            <a:ext cx="3383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Suspected phishing rate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6446520" y="2788920"/>
          <a:ext cx="283464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372600" y="3291840"/>
            <a:ext cx="1600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1" i="0" u="none" strike="noStrike" kern="1200" cap="none" spc="0" normalizeH="0" baseline="0" noProof="0">
                <a:ln>
                  <a:noFill/>
                </a:ln>
                <a:solidFill>
                  <a:srgbClr val="F499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0.4% vs 0.1%
≈ 4×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76288" y="5193792"/>
            <a:ext cx="4617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India news: I4C identified at least 57 Firebase-hosted sites/databases in Aug. 2026 used for malware or sensitive-data theft; some mimicked Indian banks.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" y="6473952"/>
            <a:ext cx="10058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Sources: APWG Q2 2026; Statista/APWG; ET CISO/Bureau 2026; Reuters, Aug. 21, 2026</a:t>
            </a:r>
          </a:p>
        </p:txBody>
      </p:sp>
    </p:spTree>
    <p:extLst>
      <p:ext uri="{BB962C8B-B14F-4D97-AF65-F5344CB8AC3E}">
        <p14:creationId xmlns:p14="http://schemas.microsoft.com/office/powerpoint/2010/main" val="3717413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94944"/>
            <a:ext cx="109728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 dirty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Recognize phishing emails </a:t>
            </a:r>
            <a:r>
              <a:rPr kumimoji="0" lang="en-IN" sz="2700" b="1" i="0" u="none" strike="noStrike" kern="1200" cap="none" spc="0" normalizeH="0" baseline="0" noProof="0" dirty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and</a:t>
            </a:r>
            <a:r>
              <a:rPr kumimoji="0" sz="2700" b="1" i="0" u="none" strike="noStrike" kern="1200" cap="none" spc="0" normalizeH="0" baseline="0" noProof="0" dirty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fake websites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Look beyond logos and grammar. Check the sender, URL and request.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5394960" cy="4343400"/>
          </a:xfrm>
          <a:prstGeom prst="round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E245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EMAIL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9572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E245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From: security@micros0ft-support.example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61488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Subject: Your account will be disabled in 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44805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We detected unusual activity.
Verify your account immediately.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224528"/>
            <a:ext cx="1645920" cy="475488"/>
          </a:xfrm>
          <a:prstGeom prst="roundRect">
            <a:avLst/>
          </a:prstGeom>
          <a:solidFill>
            <a:srgbClr val="2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68680" y="4315968"/>
            <a:ext cx="16459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VERIFY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10912"/>
            <a:ext cx="1097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E245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RED FLAGS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6504" y="5010912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Wrong sender • urgency • unexpected action • unknown link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783080"/>
            <a:ext cx="5321808" cy="43434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10528" y="2011680"/>
            <a:ext cx="2377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49937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FAKE WEBSITE EXAMPLE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0528" y="2423160"/>
            <a:ext cx="4754880" cy="438912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75120" y="2542032"/>
            <a:ext cx="429768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E245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https://</a:t>
            </a: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E245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hdfc</a:t>
            </a: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E24545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-secure-login.example/verify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118105"/>
            <a:ext cx="4754880" cy="233172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56248" y="3313732"/>
            <a:ext cx="41148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 NET-</a:t>
            </a: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</a:t>
            </a: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ANKING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1C2A3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918704" y="4178808"/>
            <a:ext cx="950976" cy="1828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18120" y="4754880"/>
            <a:ext cx="21031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LOGIN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20840" y="4946904"/>
            <a:ext cx="1828800" cy="310896"/>
          </a:xfrm>
          <a:prstGeom prst="roundRect">
            <a:avLst/>
          </a:prstGeom>
          <a:solidFill>
            <a:srgbClr val="E2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720840" y="4983479"/>
            <a:ext cx="1828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CHECK REAL DOMAIN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4946904"/>
            <a:ext cx="24688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https + correct domain + no strange spelling + no pressure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6473952"/>
            <a:ext cx="10058400" cy="2000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 dirty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2026 India examples included fake bank / government impersonation pages; always verify through the official app or typed website.</a:t>
            </a:r>
            <a:r>
              <a:rPr kumimoji="0" lang="en-IN" sz="700" b="0" i="0" u="none" strike="noStrike" kern="1200" cap="none" spc="0" normalizeH="0" baseline="0" noProof="0" dirty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| SBI Logo using</a:t>
            </a:r>
            <a:r>
              <a:rPr kumimoji="0" lang="en-IN" sz="700" b="0" i="0" u="none" strike="noStrike" kern="1200" cap="none" spc="0" normalizeH="0" noProof="0" dirty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for tanning and awareness purpose. </a:t>
            </a:r>
            <a:endParaRPr kumimoji="0" sz="700" b="0" i="0" u="none" strike="noStrike" kern="1200" cap="none" spc="0" normalizeH="0" baseline="0" noProof="0" dirty="0">
              <a:ln>
                <a:noFill/>
              </a:ln>
              <a:solidFill>
                <a:srgbClr val="96A8C2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918704" y="4471416"/>
            <a:ext cx="950976" cy="18288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20840" y="4450080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Password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59" y="4169665"/>
            <a:ext cx="3566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User ID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2076" y="3617789"/>
            <a:ext cx="3655127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   PERSONAL </a:t>
            </a:r>
            <a:r>
              <a:rPr kumimoji="0" sz="1700" b="1" i="0" u="none" strike="noStrike" kern="1200" cap="none" spc="0" normalizeH="0" baseline="0" noProof="0" dirty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</a:t>
            </a:r>
            <a:r>
              <a:rPr kumimoji="0" lang="en-IN" sz="1700" b="1" i="0" u="none" strike="noStrike" kern="1200" cap="none" spc="0" normalizeH="0" baseline="0" noProof="0" dirty="0">
                <a:ln>
                  <a:noFill/>
                </a:ln>
                <a:solidFill>
                  <a:srgbClr val="1C2A3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ANKING   </a:t>
            </a:r>
            <a:endParaRPr kumimoji="0" sz="1700" b="1" i="0" u="none" strike="noStrike" kern="1200" cap="none" spc="0" normalizeH="0" baseline="0" noProof="0" dirty="0">
              <a:ln>
                <a:noFill/>
              </a:ln>
              <a:solidFill>
                <a:srgbClr val="1C2A3F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452D7D1-C4E4-7773-3533-C95D2C99A74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3" t="38187" r="9632" b="39797"/>
          <a:stretch/>
        </p:blipFill>
        <p:spPr>
          <a:xfrm>
            <a:off x="6720840" y="3268822"/>
            <a:ext cx="1097280" cy="30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450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Attackers manipulate people before they attack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message is designed to trigger an emotion that short-circuits verification.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2880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Oval 5"/>
          <p:cNvSpPr/>
          <p:nvPr/>
        </p:nvSpPr>
        <p:spPr>
          <a:xfrm>
            <a:off x="804672" y="2011680"/>
            <a:ext cx="438912" cy="438912"/>
          </a:xfrm>
          <a:prstGeom prst="ellipse">
            <a:avLst/>
          </a:prstGeom>
          <a:solidFill>
            <a:srgbClr val="E2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4672" y="20116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011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URGENCY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51460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“Do it now or access will stop.”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82880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608576" y="2011680"/>
            <a:ext cx="438912" cy="438912"/>
          </a:xfrm>
          <a:prstGeom prst="ellipse">
            <a:avLst/>
          </a:prstGeom>
          <a:solidFill>
            <a:srgbClr val="2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608576" y="20116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2011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AUTHORITY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251460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“I’m from IT / Finance / your manager.”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82880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412480" y="2011680"/>
            <a:ext cx="438912" cy="438912"/>
          </a:xfrm>
          <a:prstGeom prst="ellipse">
            <a:avLst/>
          </a:prstGeom>
          <a:solidFill>
            <a:srgbClr val="F49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412480" y="201168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8" y="201168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FEAR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51460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“Your account is compromised.”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" y="333756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04672" y="3520440"/>
            <a:ext cx="438912" cy="438912"/>
          </a:xfrm>
          <a:prstGeom prst="ellipse">
            <a:avLst/>
          </a:prstGeom>
          <a:solidFill>
            <a:srgbClr val="2FA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04672" y="352044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5204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REWARD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02336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“Claim your prize / refund.”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25696" y="333756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4608576" y="3520440"/>
            <a:ext cx="438912" cy="438912"/>
          </a:xfrm>
          <a:prstGeom prst="ellipse">
            <a:avLst/>
          </a:prstGeom>
          <a:solidFill>
            <a:srgbClr val="856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608576" y="352044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75504" y="35204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CURIOSITY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08576" y="402336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“See this confidential document.”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337560"/>
            <a:ext cx="3401568" cy="1261872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412480" y="3520440"/>
            <a:ext cx="438912" cy="438912"/>
          </a:xfrm>
          <a:prstGeom prst="ellipse">
            <a:avLst/>
          </a:prstGeom>
          <a:solidFill>
            <a:srgbClr val="2AB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12480" y="3520440"/>
            <a:ext cx="438912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9408" y="352044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TRUST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023360"/>
            <a:ext cx="29260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“It’s from someone you know.”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" y="5029200"/>
            <a:ext cx="10927080" cy="777240"/>
          </a:xfrm>
          <a:prstGeom prst="roundRect">
            <a:avLst/>
          </a:prstGeom>
          <a:solidFill>
            <a:srgbClr val="1D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9536" y="5257800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2ABED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PATTERN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5193792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Attacker → emotion → quick action → stolen information / money / access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48006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Best practices to avoid becoming the next victim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Make these habits automatic at work and at home.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828800"/>
            <a:ext cx="3401568" cy="11430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" y="1828800"/>
            <a:ext cx="73152" cy="1143000"/>
          </a:xfrm>
          <a:prstGeom prst="roundRect">
            <a:avLst/>
          </a:prstGeom>
          <a:solidFill>
            <a:srgbClr val="E2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0392" y="199339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86584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Pause when a message creates pressure.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828800"/>
            <a:ext cx="3401568" cy="11430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425696" y="1828800"/>
            <a:ext cx="73152" cy="1143000"/>
          </a:xfrm>
          <a:prstGeom prst="roundRect">
            <a:avLst/>
          </a:prstGeom>
          <a:solidFill>
            <a:srgbClr val="2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54296" y="199339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CHECK SENDER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4296" y="2386584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Read the full address, not just the name.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3401568" cy="11430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600" y="1828800"/>
            <a:ext cx="73152" cy="1143000"/>
          </a:xfrm>
          <a:prstGeom prst="roundRect">
            <a:avLst/>
          </a:prstGeom>
          <a:solidFill>
            <a:srgbClr val="F49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58200" y="199339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CHECK LINK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386584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Hover / inspect the URL before opening.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" y="3246120"/>
            <a:ext cx="3401568" cy="11430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" y="3246120"/>
            <a:ext cx="73152" cy="1143000"/>
          </a:xfrm>
          <a:prstGeom prst="roundRect">
            <a:avLst/>
          </a:prstGeom>
          <a:solidFill>
            <a:srgbClr val="2FA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0392" y="341071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VERIFY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803904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Use a known number or official app/site.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25696" y="3246120"/>
            <a:ext cx="3401568" cy="11430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425696" y="3246120"/>
            <a:ext cx="73152" cy="1143000"/>
          </a:xfrm>
          <a:prstGeom prst="roundRect">
            <a:avLst/>
          </a:prstGeom>
          <a:solidFill>
            <a:srgbClr val="2ABE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54296" y="341071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PROTECT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4296" y="3803904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MFA • unique passwords • updates • security tools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246120"/>
            <a:ext cx="3401568" cy="114300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600" y="3246120"/>
            <a:ext cx="73152" cy="1143000"/>
          </a:xfrm>
          <a:prstGeom prst="roundRect">
            <a:avLst/>
          </a:prstGeom>
          <a:solidFill>
            <a:srgbClr val="856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458200" y="341071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3803904"/>
            <a:ext cx="2880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Send suspicious messages to IT/security.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4846320"/>
            <a:ext cx="10927080" cy="914400"/>
          </a:xfrm>
          <a:prstGeom prst="roundRect">
            <a:avLst/>
          </a:prstGeom>
          <a:solidFill>
            <a:srgbClr val="2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68680" y="507492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THE 10-SECOND 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5010912"/>
            <a:ext cx="8366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SENDER  •  MESSAGE  •  LINK  •  REQUEST  →  VERIFY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443161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7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Real-world scenarios — what would YOU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71016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Discuss first. Then reveal the safe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3438144" cy="233172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1115568" cy="310896"/>
          </a:xfrm>
          <a:prstGeom prst="roundRect">
            <a:avLst/>
          </a:prstGeom>
          <a:solidFill>
            <a:srgbClr val="2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984248"/>
            <a:ext cx="11155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SCENARIO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2971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Boss messages: “Buy 5 gift cards now.”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273552"/>
            <a:ext cx="3017520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33832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SAFE: Verify through a known phone number.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38144" cy="233172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544568" y="1965960"/>
            <a:ext cx="1115568" cy="310896"/>
          </a:xfrm>
          <a:prstGeom prst="roundRect">
            <a:avLst/>
          </a:prstGeom>
          <a:solidFill>
            <a:srgbClr val="2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44568" y="1984248"/>
            <a:ext cx="11155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SCENARIO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487168"/>
            <a:ext cx="2971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Bank SMS: “Account blocked — login now.”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44568" y="3273552"/>
            <a:ext cx="3017520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81728" y="33832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SAFE: Open the official bank app/site yourself.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9016" y="1783080"/>
            <a:ext cx="3438144" cy="2331720"/>
          </a:xfrm>
          <a:prstGeom prst="roundRect">
            <a:avLst/>
          </a:prstGeom>
          <a:solidFill>
            <a:srgbClr val="18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311896" y="1965960"/>
            <a:ext cx="1115568" cy="310896"/>
          </a:xfrm>
          <a:prstGeom prst="roundRect">
            <a:avLst/>
          </a:prstGeom>
          <a:solidFill>
            <a:srgbClr val="2B6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11896" y="1984248"/>
            <a:ext cx="1115568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SCENARIO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487168"/>
            <a:ext cx="2971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>
                <a:ln>
                  <a:noFill/>
                </a:ln>
                <a:solidFill>
                  <a:srgbClr val="F8FAF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Known colleague sends unexpected .VBS.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11896" y="3273552"/>
            <a:ext cx="3017520" cy="548640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449056" y="33832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DCE5F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SAFE: Don’t open it; verify and report.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473952"/>
            <a:ext cx="457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1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473952"/>
            <a:ext cx="10058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96A8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Real-world examples: 2026 CERT-In WhatsApp malware campaign; India bank-impersonation scams; common BEC scenarios.</a:t>
            </a:r>
          </a:p>
        </p:txBody>
      </p:sp>
    </p:spTree>
    <p:extLst>
      <p:ext uri="{BB962C8B-B14F-4D97-AF65-F5344CB8AC3E}">
        <p14:creationId xmlns:p14="http://schemas.microsoft.com/office/powerpoint/2010/main" val="30029726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32004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2AB8D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rgbClr val="2ABED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QUIZZES</a:t>
            </a:r>
            <a:endParaRPr kumimoji="0" sz="900" b="1" i="0" u="none" strike="noStrike" kern="1200" cap="none" spc="0" normalizeH="0" baseline="0" noProof="0" dirty="0">
              <a:ln>
                <a:noFill/>
              </a:ln>
              <a:solidFill>
                <a:srgbClr val="2ABEDD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What would you do?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307592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9DAB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Discuss the answer before revealing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28800"/>
            <a:ext cx="3429000" cy="3246120"/>
          </a:xfrm>
          <a:prstGeom prst="roundRect">
            <a:avLst/>
          </a:prstGeom>
          <a:solidFill>
            <a:srgbClr val="101D34"/>
          </a:solidFill>
          <a:ln>
            <a:solidFill>
              <a:srgbClr val="24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95528" y="2011680"/>
            <a:ext cx="530352" cy="310896"/>
          </a:xfrm>
          <a:prstGeom prst="roundRect">
            <a:avLst/>
          </a:prstGeom>
          <a:solidFill>
            <a:srgbClr val="21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5528" y="2020824"/>
            <a:ext cx="5303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87168"/>
            <a:ext cx="297180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“Your bank account will be blocked in 15 minutes.”
What is the safest next step?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" y="3493008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3544" y="3547872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 Click the message link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" y="3931920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23544" y="3986783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  Open the official bank app/site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" y="4370831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3544" y="442569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  Reply with your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8006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AB8D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Answer: 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1828800"/>
            <a:ext cx="3429000" cy="3246120"/>
          </a:xfrm>
          <a:prstGeom prst="roundRect">
            <a:avLst/>
          </a:prstGeom>
          <a:solidFill>
            <a:srgbClr val="101D34"/>
          </a:solidFill>
          <a:ln>
            <a:solidFill>
              <a:srgbClr val="24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4562856" y="2011680"/>
            <a:ext cx="530352" cy="310896"/>
          </a:xfrm>
          <a:prstGeom prst="roundRect">
            <a:avLst/>
          </a:prstGeom>
          <a:solidFill>
            <a:srgbClr val="21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62856" y="2020824"/>
            <a:ext cx="5303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2487168"/>
            <a:ext cx="297180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Your manager asks on WhatsApp for gift-card codes.
What should you do?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62856" y="3493008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90872" y="3547872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 Send them quickly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62856" y="3931920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90872" y="3986783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  Verify using a known number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62856" y="4370831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90872" y="442569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  Ask for their password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48006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AB8D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Answer: B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29016" y="1828800"/>
            <a:ext cx="3429000" cy="3246120"/>
          </a:xfrm>
          <a:prstGeom prst="roundRect">
            <a:avLst/>
          </a:prstGeom>
          <a:solidFill>
            <a:srgbClr val="101D34"/>
          </a:solidFill>
          <a:ln>
            <a:solidFill>
              <a:srgbClr val="24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330184" y="2011680"/>
            <a:ext cx="530352" cy="310896"/>
          </a:xfrm>
          <a:prstGeom prst="roundRect">
            <a:avLst/>
          </a:prstGeom>
          <a:solidFill>
            <a:srgbClr val="21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30184" y="2020824"/>
            <a:ext cx="530352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Q3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0184" y="2487168"/>
            <a:ext cx="2971800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colleague sends an unexpected .VBS attachment.
What should you do?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30184" y="3493008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58200" y="3547872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  Open it because it’s a colleague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30184" y="3931920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458200" y="3986783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  Verify and report 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30184" y="4370831"/>
            <a:ext cx="2971800" cy="347472"/>
          </a:xfrm>
          <a:prstGeom prst="roundRect">
            <a:avLst/>
          </a:prstGeom>
          <a:solidFill>
            <a:srgbClr val="1D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458200" y="4425696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E2E9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  Forward it to others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0184" y="4800600"/>
            <a:ext cx="1645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>
                <a:ln>
                  <a:noFill/>
                </a:ln>
                <a:solidFill>
                  <a:srgbClr val="2AB8DC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Answer: 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 dirty="0">
                <a:ln>
                  <a:noFill/>
                </a:ln>
                <a:solidFill>
                  <a:srgbClr val="9DAB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0</a:t>
            </a:r>
            <a:r>
              <a:rPr kumimoji="0" lang="en-IN" sz="900" b="1" i="0" u="none" strike="noStrike" kern="1200" cap="none" spc="0" normalizeH="0" baseline="0" noProof="0" dirty="0">
                <a:ln>
                  <a:noFill/>
                </a:ln>
                <a:solidFill>
                  <a:srgbClr val="9DABC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8</a:t>
            </a:r>
            <a:endParaRPr kumimoji="0" sz="900" b="1" i="0" u="none" strike="noStrike" kern="1200" cap="none" spc="0" normalizeH="0" baseline="0" noProof="0" dirty="0">
              <a:ln>
                <a:noFill/>
              </a:ln>
              <a:solidFill>
                <a:srgbClr val="9DABC2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8290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3992760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89474" y="1874490"/>
            <a:ext cx="4413051" cy="8228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64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400" b="1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16971" y="4640460"/>
            <a:ext cx="1558055" cy="32060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>
                <a:solidFill>
                  <a:srgbClr val="F8FAFC"/>
                </a:solidFill>
                <a:latin typeface="Inter"/>
              </a:rPr>
              <a:t>Bhavik Bhandari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F8FAFC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56891" y="2637162"/>
            <a:ext cx="574762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2ABEDD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Stay alert. Verify before you trust.</a:t>
            </a:r>
          </a:p>
        </p:txBody>
      </p:sp>
    </p:spTree>
    <p:extLst>
      <p:ext uri="{BB962C8B-B14F-4D97-AF65-F5344CB8AC3E}">
        <p14:creationId xmlns:p14="http://schemas.microsoft.com/office/powerpoint/2010/main" val="1025435691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29</TotalTime>
  <Words>905</Words>
  <Application>Microsoft Office PowerPoint</Application>
  <PresentationFormat>Widescreen</PresentationFormat>
  <Paragraphs>155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Calibri</vt:lpstr>
      <vt:lpstr>Century Gothic</vt:lpstr>
      <vt:lpstr>Inter</vt:lpstr>
      <vt:lpstr>Plus Jakarta Sans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Jayakrushna Behera</dc:creator>
  <cp:keywords>Phishing</cp:keywords>
  <cp:lastModifiedBy>bhavik bhandari</cp:lastModifiedBy>
  <cp:revision>9</cp:revision>
  <dcterms:created xsi:type="dcterms:W3CDTF">2026-10-02T18:03:40Z</dcterms:created>
  <dcterms:modified xsi:type="dcterms:W3CDTF">2026-10-26T15:59:22Z</dcterms:modified>
</cp:coreProperties>
</file>